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rfc-editor.org/rfc/rfc9293" TargetMode="External"/><Relationship Id="rId3" Type="http://schemas.openxmlformats.org/officeDocument/2006/relationships/hyperlink" Target="https://docs.python.org/3/library/socket.html" TargetMode="External"/><Relationship Id="rId4" Type="http://schemas.openxmlformats.org/officeDocument/2006/relationships/hyperlink" Target="https://docs.python.org/3/library/hashlib.html" TargetMode="External"/><Relationship Id="rId5" Type="http://schemas.openxmlformats.org/officeDocument/2006/relationships/hyperlink" Target="https://fastapi.tiangolo.com/advanced/websocke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304E"/>
                </a:solidFill>
              </a:rPr>
              <a:t>Multipath Reliable File Transfer</a:t>
            </a:r>
          </a:p>
          <a:p>
            <a:pPr>
              <a:spcAft>
                <a:spcPts val="600"/>
              </a:spcAft>
            </a:pPr>
            <a:r>
              <a:rPr sz="2500" b="1">
                <a:solidFill>
                  <a:srgbClr val="1C304E"/>
                </a:solidFill>
              </a:rPr>
              <a:t>Using Concurrent Socket Connections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spcAft>
                <a:spcPts val="600"/>
              </a:spcAft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A5A5A"/>
                </a:solidFill>
              </a:rPr>
              <a:t/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45720" rIns="45720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243143"/>
                </a:solidFill>
                <a:latin typeface="Aptos"/>
              </a:rPr>
              <a:t>Anmol Salunkhe – 1262242598</a:t>
            </a:r>
            <a:r>
              <a:rPr sz="1400">
                <a:solidFill>
                  <a:srgbClr val="243143"/>
                </a:solidFill>
                <a:latin typeface="Aptos"/>
              </a:rPr>
              <a:t>          Shreyansh Panda – 1262242568</a:t>
            </a:r>
          </a:p>
          <a:p>
            <a:pPr algn="ctr"/>
            <a:r>
              <a:rPr sz="1400">
                <a:solidFill>
                  <a:srgbClr val="243143"/>
                </a:solidFill>
                <a:latin typeface="Aptos"/>
              </a:rPr>
              <a:t>Siddharth Gupta – 1262242478</a:t>
            </a:r>
            <a:r>
              <a:rPr sz="1400">
                <a:solidFill>
                  <a:srgbClr val="243143"/>
                </a:solidFill>
                <a:latin typeface="Aptos"/>
              </a:rPr>
              <a:t>          Naina Sundrani – 1262252355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D2D2D"/>
                </a:solidFill>
              </a:rPr>
              <a:t>Group 15 Panel K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</a:rPr>
              <a:t>Faculty: Dr. Uma Pujeri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D2D2D"/>
                </a:solidFill>
              </a:rPr>
              <a:t>Academic Year: 2026–2027 | Presentation date: 24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spcAft>
                <a:spcPts val="600"/>
              </a:spcAft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A5A5A"/>
                </a:solidFill>
              </a:rPr>
              <a:t/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28374B"/>
                </a:solidFill>
              </a:rPr>
              <a:t>A single file-transfer connection can limit application-level parallelism. If a transfer is interrupted, sending the entire file again wastes time and bandwidth.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58368" y="3703320"/>
            <a:ext cx="3767328" cy="8046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F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3877056"/>
            <a:ext cx="438912" cy="438912"/>
          </a:xfrm>
          <a:prstGeom prst="ellipse">
            <a:avLst/>
          </a:prstGeom>
          <a:solidFill>
            <a:srgbClr val="2B70E8"/>
          </a:solidFill>
          <a:ln>
            <a:solidFill>
              <a:srgbClr val="2B7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59"/>
            <a:ext cx="29077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62B4A"/>
                </a:solidFill>
                <a:latin typeface="Aptos"/>
              </a:rPr>
              <a:t>Chunk the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96511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263549"/>
                </a:solidFill>
                <a:latin typeface="Aptos"/>
              </a:rPr>
              <a:t>Split it into uniquely identified chunks.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3703320"/>
            <a:ext cx="3767328" cy="8046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F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91456" y="3877056"/>
            <a:ext cx="438912" cy="438912"/>
          </a:xfrm>
          <a:prstGeom prst="ellipse">
            <a:avLst/>
          </a:prstGeom>
          <a:solidFill>
            <a:srgbClr val="2B70E8"/>
          </a:solidFill>
          <a:ln>
            <a:solidFill>
              <a:srgbClr val="2B7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3794759"/>
            <a:ext cx="29077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62B4A"/>
                </a:solidFill>
                <a:latin typeface="Aptos"/>
              </a:rPr>
              <a:t>Transfer in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4096511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263549"/>
                </a:solidFill>
                <a:latin typeface="Aptos"/>
              </a:rPr>
              <a:t>Send chunks over independent TCP sockets.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36592"/>
            <a:ext cx="3767328" cy="8046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F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910328"/>
            <a:ext cx="438912" cy="438912"/>
          </a:xfrm>
          <a:prstGeom prst="ellipse">
            <a:avLst/>
          </a:prstGeom>
          <a:solidFill>
            <a:srgbClr val="162B4A"/>
          </a:solidFill>
          <a:ln>
            <a:solidFill>
              <a:srgbClr val="16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28031"/>
            <a:ext cx="29077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62B4A"/>
                </a:solidFill>
                <a:latin typeface="Aptos"/>
              </a:rPr>
              <a:t>Recover reliably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9783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263549"/>
                </a:solidFill>
                <a:latin typeface="Aptos"/>
              </a:rPr>
              <a:t>Validate chunks and resume incomplete transfers.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4736592"/>
            <a:ext cx="3767328" cy="80467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CF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91456" y="4910328"/>
            <a:ext cx="438912" cy="438912"/>
          </a:xfrm>
          <a:prstGeom prst="ellipse">
            <a:avLst/>
          </a:prstGeom>
          <a:solidFill>
            <a:srgbClr val="162B4A"/>
          </a:solidFill>
          <a:ln>
            <a:solidFill>
              <a:srgbClr val="16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4828031"/>
            <a:ext cx="29077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162B4A"/>
                </a:solidFill>
                <a:latin typeface="Aptos"/>
              </a:rPr>
              <a:t>Verify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5129783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263549"/>
                </a:solidFill>
                <a:latin typeface="Aptos"/>
              </a:rPr>
              <a:t>Compare SHA-256 hashes after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spcAft>
                <a:spcPts val="600"/>
              </a:spcAft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A5A5A"/>
                </a:solidFill>
              </a:rPr>
              <a:t/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462272"/>
            <a:ext cx="8096250" cy="1115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spcAft>
                <a:spcPts val="6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28374B"/>
                </a:solidFill>
                <a:latin typeface="Aptos"/>
              </a:rPr>
              <a:t>Tools: Python sockets, FastAPI, React, TypeScript and Vite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Aptos"/>
              </a:rPr>
              <a:t>Protocols:</a:t>
            </a:r>
            <a:r>
              <a:rPr b="0" sz="1100">
                <a:latin typeface="Aptos"/>
              </a:rPr>
              <a:t> TCP carries file data; HTTP/WebSocket manages jobs and live progress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Aptos"/>
              </a:rPr>
              <a:t>Addressing:</a:t>
            </a:r>
            <a:r>
              <a:rPr b="0" sz="1100">
                <a:latin typeface="Aptos"/>
              </a:rPr>
              <a:t> Configurable receiver host/port; remote transfers need network reachability and firewall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React + TypeScript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83080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E2F6F6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FastAPI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Job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2011680" cy="658368"/>
          </a:xfrm>
          <a:prstGeom prst="roundRect">
            <a:avLst>
              <a:gd name="adj" fmla="val 12000"/>
            </a:avLst>
          </a:prstGeom>
          <a:solidFill>
            <a:srgbClr val="E9EEF8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Sender Scheduler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+ Workers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112264"/>
            <a:ext cx="731520" cy="0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2112264"/>
            <a:ext cx="777240" cy="0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74519" y="2907792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DCF2FF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Multiple independent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TCP socket connections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907792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E0F7ED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Receiver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Chunk Store + Manifest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17520" y="2441448"/>
            <a:ext cx="3977640" cy="466344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23360" y="3264408"/>
            <a:ext cx="822960" cy="0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71800" y="3767328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192B49"/>
                </a:solidFill>
                <a:latin typeface="Aptos"/>
              </a:rPr>
              <a:t>Chunk validation • Reassembly • SHA-256 check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303520" y="3621024"/>
            <a:ext cx="621792" cy="146304"/>
          </a:xfrm>
          <a:prstGeom prst="line">
            <a:avLst/>
          </a:prstGeom>
          <a:ln w="19050">
            <a:solidFill>
              <a:srgbClr val="19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spcAft>
                <a:spcPts val="600"/>
              </a:spcAft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A5A5A"/>
                </a:solidFill>
              </a:rPr>
              <a:t/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spcAft>
                <a:spcPts val="6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549"/>
                </a:solidFill>
                <a:latin typeface="Aptos"/>
              </a:rPr>
              <a:t>Implementation:</a:t>
            </a:r>
            <a:r>
              <a:rPr sz="1200" b="0">
                <a:solidFill>
                  <a:srgbClr val="263549"/>
                </a:solidFill>
                <a:latin typeface="Aptos"/>
              </a:rPr>
              <a:t> Chunker and scheduler, framed TCP client/server, receiver manifest and storage, FastAPI routes, WebSocket progress manager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3549"/>
                </a:solidFill>
                <a:latin typeface="Aptos"/>
              </a:rPr>
              <a:t>Working:</a:t>
            </a:r>
            <a:r>
              <a:rPr sz="1200" b="0">
                <a:solidFill>
                  <a:srgbClr val="263549"/>
                </a:solidFill>
                <a:latin typeface="Aptos"/>
              </a:rPr>
              <a:t> The receiver stores valid chunks at their correct byte offsets; already accepted chunks can be reused when resuming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63549"/>
                </a:solidFill>
                <a:latin typeface="Aptos"/>
              </a:rPr>
              <a:t>Demo:</a:t>
            </a:r>
            <a:r>
              <a:rPr sz="1200" b="0">
                <a:solidFill>
                  <a:srgbClr val="263549"/>
                </a:solidFill>
                <a:latin typeface="Aptos"/>
              </a:rPr>
              <a:t> Start a transfer, show parallel worker lanes and live progress, then open Integrity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1 SELECT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Choose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8308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2 CHUNK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Split + 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8308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3 SCHEDULE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Assign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E0F7ED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4 TRANSFER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Send via TCP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78892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E0F7ED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5 RESUME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Retry missing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E0F7ED"/>
          </a:solidFill>
          <a:ln>
            <a:solidFill>
              <a:srgbClr val="AA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92B49"/>
                </a:solidFill>
                <a:latin typeface="Aptos"/>
              </a:rPr>
              <a:t>6 VERIFY</a:t>
            </a:r>
            <a:br/>
            <a:r>
              <a:rPr sz="1100" b="1">
                <a:solidFill>
                  <a:srgbClr val="192B49"/>
                </a:solidFill>
                <a:latin typeface="Aptos"/>
              </a:rPr>
              <a:t>Rebuild + hash check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139696"/>
            <a:ext cx="594360" cy="0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94960" y="2139696"/>
            <a:ext cx="594360" cy="0"/>
          </a:xfrm>
          <a:prstGeom prst="line">
            <a:avLst/>
          </a:prstGeom>
          <a:ln w="2540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691640" y="2496312"/>
            <a:ext cx="5303520" cy="292608"/>
          </a:xfrm>
          <a:prstGeom prst="line">
            <a:avLst/>
          </a:prstGeom>
          <a:ln w="19050">
            <a:solidFill>
              <a:srgbClr val="2D7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43200" y="3145536"/>
            <a:ext cx="594360" cy="0"/>
          </a:xfrm>
          <a:prstGeom prst="line">
            <a:avLst/>
          </a:prstGeom>
          <a:ln w="25400">
            <a:solidFill>
              <a:srgbClr val="19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3145536"/>
            <a:ext cx="594360" cy="0"/>
          </a:xfrm>
          <a:prstGeom prst="line">
            <a:avLst/>
          </a:prstGeom>
          <a:ln w="25400">
            <a:solidFill>
              <a:srgbClr val="19A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3657"/>
                </a:solidFill>
                <a:latin typeface="Arial"/>
              </a:rPr>
              <a:t>Verification, Results and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3429000" cy="667512"/>
          </a:xfrm>
          <a:prstGeom prst="roundRect">
            <a:avLst/>
          </a:prstGeom>
          <a:solidFill>
            <a:srgbClr val="DEEAFC"/>
          </a:solidFill>
          <a:ln w="15240">
            <a:solidFill>
              <a:srgbClr val="A6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09160" y="1463040"/>
            <a:ext cx="3429000" cy="667512"/>
          </a:xfrm>
          <a:prstGeom prst="roundRect">
            <a:avLst/>
          </a:prstGeom>
          <a:solidFill>
            <a:srgbClr val="E0F6EC"/>
          </a:solidFill>
          <a:ln w="15240">
            <a:solidFill>
              <a:srgbClr val="A6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206240" y="1792224"/>
            <a:ext cx="502920" cy="0"/>
          </a:xfrm>
          <a:prstGeom prst="line">
            <a:avLst/>
          </a:prstGeom>
          <a:ln w="25400">
            <a:solidFill>
              <a:srgbClr val="2F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1527048"/>
            <a:ext cx="3191256" cy="530352"/>
          </a:xfrm>
          <a:prstGeom prst="rect">
            <a:avLst/>
          </a:prstGeom>
          <a:noFill/>
        </p:spPr>
        <p:txBody>
          <a:bodyPr wrap="square" t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657"/>
                </a:solidFill>
                <a:latin typeface="Arial"/>
              </a:rPr>
              <a:t>EXPECTED: </a:t>
            </a:r>
            <a:r>
              <a:rPr sz="1200" b="0">
                <a:solidFill>
                  <a:srgbClr val="273549"/>
                </a:solidFill>
                <a:latin typeface="Arial"/>
              </a:rPr>
              <a:t>All chunks received and file
reconstructed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032" y="1527048"/>
            <a:ext cx="3191256" cy="530352"/>
          </a:xfrm>
          <a:prstGeom prst="rect">
            <a:avLst/>
          </a:prstGeom>
          <a:noFill/>
        </p:spPr>
        <p:txBody>
          <a:bodyPr wrap="square" tIns="2743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657"/>
                </a:solidFill>
                <a:latin typeface="Arial"/>
              </a:rPr>
              <a:t>INTEGRITY: </a:t>
            </a:r>
            <a:r>
              <a:rPr sz="1200" b="0">
                <a:solidFill>
                  <a:srgbClr val="273549"/>
                </a:solidFill>
                <a:latin typeface="Arial"/>
              </a:rPr>
              <a:t>Sender and receiver SHA-256
hashes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6272" y="2432304"/>
            <a:ext cx="4800600" cy="640080"/>
          </a:xfrm>
          <a:prstGeom prst="roundRect">
            <a:avLst/>
          </a:prstGeom>
          <a:solidFill>
            <a:srgbClr val="F6F8FC"/>
          </a:solidFill>
          <a:ln w="15240">
            <a:solidFill>
              <a:srgbClr val="A6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2514600"/>
            <a:ext cx="4544568" cy="4572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657"/>
                </a:solidFill>
                <a:latin typeface="Arial"/>
              </a:rPr>
              <a:t>Successful verification → mark transfer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8001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73549"/>
                </a:solidFill>
                <a:latin typeface="Arial"/>
              </a:rPr>
              <a:t>Test: </a:t>
            </a:r>
            <a:r>
              <a:rPr sz="1250">
                <a:solidFill>
                  <a:srgbClr val="273549"/>
                </a:solidFill>
                <a:latin typeface="Arial"/>
              </a:rPr>
              <a:t>A sample file was transferred using four concurrent TCP connections.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51376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73549"/>
                </a:solidFill>
                <a:latin typeface="Arial"/>
              </a:rPr>
              <a:t>Verify: </a:t>
            </a:r>
            <a:r>
              <a:rPr sz="1250">
                <a:solidFill>
                  <a:srgbClr val="273549"/>
                </a:solidFill>
                <a:latin typeface="Arial"/>
              </a:rPr>
              <a:t>The receiver confirmed that all required chunks were present and the sender and receiver SHA-256 hashes matched.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8001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73549"/>
                </a:solidFill>
                <a:latin typeface="Arial"/>
              </a:rPr>
              <a:t>Result: </a:t>
            </a:r>
            <a:r>
              <a:rPr sz="1250">
                <a:solidFill>
                  <a:srgbClr val="273549"/>
                </a:solidFill>
                <a:latin typeface="Arial"/>
              </a:rPr>
              <a:t>The reconstructed file matched the source file, confirmed by matching SHA-256 hashes.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8001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73549"/>
                </a:solidFill>
                <a:latin typeface="Arial"/>
              </a:rPr>
              <a:t>Conclusion: </a:t>
            </a:r>
            <a:r>
              <a:rPr sz="1250">
                <a:solidFill>
                  <a:srgbClr val="273549"/>
                </a:solidFill>
                <a:latin typeface="Arial"/>
              </a:rPr>
              <a:t>Concurrent transfer, chunk tracking and resume support provide a more resilient file-transfer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4389120" cy="18288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Computer Networks Laboratory CSE20110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243753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658368" cy="45720"/>
          </a:xfrm>
          <a:prstGeom prst="rect">
            <a:avLst/>
          </a:prstGeom>
          <a:solidFill>
            <a:srgbClr val="27C4D3"/>
          </a:solidFill>
          <a:ln>
            <a:solidFill>
              <a:srgbClr val="27C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8046720" cy="566928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/>
            <a:r>
              <a:rPr sz="1350" b="0">
                <a:solidFill>
                  <a:srgbClr val="243143"/>
                </a:solidFill>
                <a:latin typeface="Aptos"/>
                <a:hlinkClick r:id="rId2"/>
              </a:rPr>
              <a:t>[1] W. Eddy, Ed., “Transmission Control Protocol (TCP),” RFC 9293, Internet Engineering Task Force, Aug.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56232"/>
            <a:ext cx="76809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B70E8"/>
                </a:solidFill>
                <a:latin typeface="Aptos"/>
                <a:hlinkClick r:id="rId2"/>
              </a:rPr>
              <a:t>https://www.rfc-editor.org/rfc/rfc9293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43143"/>
                </a:solidFill>
                <a:latin typeface="Aptos"/>
                <a:hlinkClick r:id="rId3"/>
              </a:rPr>
              <a:t>[2] Python Software Foundation, “socket — Low-level networking interface.”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16352"/>
            <a:ext cx="98755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B70E8"/>
                </a:solidFill>
                <a:latin typeface="Aptos"/>
                <a:hlinkClick r:id="rId3"/>
              </a:rPr>
              <a:t>https://docs.python.org/3/library/socket.html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43143"/>
                </a:solidFill>
                <a:latin typeface="Aptos"/>
                <a:hlinkClick r:id="rId4"/>
              </a:rPr>
              <a:t>[3] Python Software Foundation, “hashlib — Secure hashes and message digests.”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76472"/>
            <a:ext cx="98755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B70E8"/>
                </a:solidFill>
                <a:latin typeface="Aptos"/>
                <a:hlinkClick r:id="rId4"/>
              </a:rPr>
              <a:t>https://docs.python.org/3/library/hashlib.html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43143"/>
                </a:solidFill>
                <a:latin typeface="Aptos"/>
                <a:hlinkClick r:id="rId5"/>
              </a:rPr>
              <a:t>[4] FastAPI, “WebSockets.”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2"/>
            <a:ext cx="98755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B70E8"/>
                </a:solidFill>
                <a:latin typeface="Aptos"/>
                <a:hlinkClick r:id="rId5"/>
              </a:rPr>
              <a:t>https://fastapi.tiangolo.com/advanced/websockets/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Computer Networks Laboratory  CSE20110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73152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DocSecurity>0</DocSecurity>
  <PresentationFormat>On-screen Show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Swati</cp:lastModifiedBy>
  <cp:revision>1</cp:revision>
  <dcterms:created xsi:type="dcterms:W3CDTF">2026-10-14T10:56:48Z</dcterms:created>
  <dcterms:modified xsi:type="dcterms:W3CDTF">2026-10-15T04:36:00Z</dcterms:modified>
</cp:coreProperties>
</file>